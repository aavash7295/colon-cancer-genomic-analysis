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64" r:id="rId11"/>
    <p:sldId id="265" r:id="rId12"/>
    <p:sldId id="266" r:id="rId13"/>
    <p:sldId id="267" r:id="rId14"/>
    <p:sldId id="277" r:id="rId15"/>
    <p:sldId id="268" r:id="rId16"/>
    <p:sldId id="269" r:id="rId17"/>
    <p:sldId id="270" r:id="rId18"/>
    <p:sldId id="271" r:id="rId19"/>
    <p:sldId id="272" r:id="rId20"/>
    <p:sldId id="273" r:id="rId21"/>
    <p:sldId id="27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0E7D5-9E27-2644-DD99-5D6A87D6F1B5}" v="113" dt="2026-04-25T22:34:11.218"/>
    <p1510:client id="{51697B6F-C325-0A3C-3C4A-1806D0494549}" v="51" dt="2026-04-25T21:46:32.658"/>
    <p1510:client id="{751D850E-8ADA-9F9F-4828-E7BA2E2B6D10}" v="1" dt="2026-04-25T19:37:25.786"/>
    <p1510:client id="{754B0F6F-47DC-ABED-2E67-63AE108842AC}" v="14" dt="2026-04-25T22:03:42.050"/>
    <p1510:client id="{7EE32077-7185-C4B9-A0C9-B05970B78A49}" v="27" dt="2026-04-25T21:22:47.183"/>
    <p1510:client id="{E8FD01D1-1875-51E7-3D08-09DC6AB6B0C0}" v="8" dt="2026-04-25T20:39:25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76E7F-E846-42EB-AD10-8EA89050F0D7}" type="datetimeFigureOut"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05A44-57DE-49C1-98A4-78B602BDD80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55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B246-E70D-42CD-3666-9A18DBED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35121-3242-FCCC-BDDD-CF8178D1B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AEA05-92B8-5622-AF96-1B33B3F62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62628-7BEC-063C-8849-C81FEADE86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14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7E722-790E-0BCB-F8C5-588F5A833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657FA-66F4-8FA4-4E16-903AE541D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00C66-3902-3113-DABE-9F41BD02C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5C4CD-EED8-C807-2F06-9B5700BEFD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27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194560" cy="2194560"/>
          </a:xfrm>
          <a:prstGeom prst="ellipse">
            <a:avLst/>
          </a:prstGeom>
          <a:solidFill>
            <a:srgbClr val="00A896">
              <a:alpha val="3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3108960"/>
            <a:ext cx="1463040" cy="1463040"/>
          </a:xfrm>
          <a:prstGeom prst="ellipse">
            <a:avLst/>
          </a:prstGeom>
          <a:solidFill>
            <a:srgbClr val="02C39A">
              <a:alpha val="2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840480"/>
            <a:ext cx="1645920" cy="1645920"/>
          </a:xfrm>
          <a:prstGeom prst="ellipse">
            <a:avLst/>
          </a:prstGeom>
          <a:solidFill>
            <a:srgbClr val="4A7C8E">
              <a:alpha val="2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315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Genomic Instability</a:t>
            </a:r>
            <a:endParaRPr lang="en-US" sz="400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Colon Cancer</a:t>
            </a:r>
            <a:endParaRPr lang="en-US" sz="360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5486400" cy="36576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72491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Multi-Modal Computational Analysis of NCI60 Transcriptomic Data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6035040" y="3429000"/>
            <a:ext cx="960120" cy="731520"/>
          </a:xfrm>
          <a:prstGeom prst="rect">
            <a:avLst/>
          </a:prstGeom>
          <a:solidFill>
            <a:srgbClr val="1C3A4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3429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6035040" y="381304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7040880" y="3429000"/>
            <a:ext cx="960120" cy="731520"/>
          </a:xfrm>
          <a:prstGeom prst="rect">
            <a:avLst/>
          </a:prstGeom>
          <a:solidFill>
            <a:srgbClr val="1C3A4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3429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6,800+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7040880" y="381304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Analyzed</a:t>
            </a:r>
            <a:endParaRPr lang="en-US" sz="750"/>
          </a:p>
        </p:txBody>
      </p:sp>
      <p:sp>
        <p:nvSpPr>
          <p:cNvPr id="18" name="Shape 16"/>
          <p:cNvSpPr/>
          <p:nvPr/>
        </p:nvSpPr>
        <p:spPr>
          <a:xfrm>
            <a:off x="8046720" y="3429000"/>
            <a:ext cx="960120" cy="731520"/>
          </a:xfrm>
          <a:prstGeom prst="rect">
            <a:avLst/>
          </a:prstGeom>
          <a:solidFill>
            <a:srgbClr val="1C3A4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0" y="3429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8046720" y="381304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750"/>
          </a:p>
        </p:txBody>
      </p:sp>
      <p:sp>
        <p:nvSpPr>
          <p:cNvPr id="21" name="Text 19"/>
          <p:cNvSpPr/>
          <p:nvPr/>
        </p:nvSpPr>
        <p:spPr>
          <a:xfrm>
            <a:off x="27432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2025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37490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 cancer is driven by large-scale alterations in gene expression patterns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transcriptomic data (thousands of genes, few patients) makes biological interpretation extremely difficult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Distinguishing true driver genes from background noise is a critical but unsolved challenge in precision oncology</a:t>
            </a:r>
            <a:endParaRPr lang="en-US" sz="11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often lack the multi-model validation needed for clinical confidence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96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846320" y="1261872"/>
            <a:ext cx="384048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490472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Markers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074920" y="1719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5 high-consistency driver genes (Z &gt; 1.0) that are stably expressed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800600" y="2331720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74920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Outliers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07492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677 volatile effect genes (|Z| &gt; 2.0) representing broader instability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800600" y="31729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3145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5074920" y="34015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small marker set can predict the larger genomic instability state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4800600" y="4014216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Impact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5074920" y="42428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precision medicine by targeting driver genes to mitigate broader instability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System &amp; Dataset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NCI60 Human Tumor Cell Line Panel  (ISLR Package in R)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landmark pharmacogenomic database developed by the National Cancer Institute. Profiled across 60 human cancer cell lines spanning 9 tissue types. This study focuses exclusively on COLON cancer samples — 7 patients coded V42–V48.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2011680" cy="457200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🧬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Type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36576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NCI60 Panel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2450592" y="2331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450592" y="2331720"/>
            <a:ext cx="2011680" cy="457200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50592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👥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2542032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2542032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/>
          </a:p>
        </p:txBody>
      </p:sp>
      <p:sp>
        <p:nvSpPr>
          <p:cNvPr id="19" name="Text 17"/>
          <p:cNvSpPr/>
          <p:nvPr/>
        </p:nvSpPr>
        <p:spPr>
          <a:xfrm>
            <a:off x="2542032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V42 – V48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4626864" y="2331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26864" y="2331720"/>
            <a:ext cx="2011680" cy="457200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26864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📊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4718304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Profiled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4718304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6,830</a:t>
            </a:r>
            <a:endParaRPr lang="en-US" sz="2600"/>
          </a:p>
        </p:txBody>
      </p:sp>
      <p:sp>
        <p:nvSpPr>
          <p:cNvPr id="25" name="Text 23"/>
          <p:cNvSpPr/>
          <p:nvPr/>
        </p:nvSpPr>
        <p:spPr>
          <a:xfrm>
            <a:off x="4718304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6803136" y="233172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03136" y="2331720"/>
            <a:ext cx="2011680" cy="457200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03136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🔍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6894576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Target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894576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2600"/>
          </a:p>
          <a:p>
            <a:pPr marL="0" indent="0" algn="ctr">
              <a:buNone/>
            </a:pPr>
            <a:r>
              <a:rPr lang="en-US" sz="2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2600"/>
          </a:p>
        </p:txBody>
      </p:sp>
      <p:sp>
        <p:nvSpPr>
          <p:cNvPr id="31" name="Text 29"/>
          <p:cNvSpPr/>
          <p:nvPr/>
        </p:nvSpPr>
        <p:spPr>
          <a:xfrm>
            <a:off x="6894576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classification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Rows = Patients (V42–V48)  |  Columns = Genes (Transcriptional Expression Values)  |  Preprocessed via Z-score normalization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1207008"/>
          </a:xfrm>
          <a:prstGeom prst="rect">
            <a:avLst/>
          </a:prstGeom>
          <a:solidFill>
            <a:srgbClr val="1C3A4A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22960" cy="1207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527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7680960" y="9418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4C542">
              <a:alpha val="80000"/>
            </a:srgbClr>
          </a:solidFill>
          <a:ln w="63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0" y="9418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Power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1234440" y="1014984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set of 5 consistent Market biomarkers (Z &gt; 1.0) accurately predict the intensity of 677 Background genomic outliers (|Z| &gt; 2.0)?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8595360" cy="1207008"/>
          </a:xfrm>
          <a:prstGeom prst="rect">
            <a:avLst/>
          </a:prstGeom>
          <a:solidFill>
            <a:srgbClr val="1C3A4A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822960" cy="1207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6243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7680960" y="23134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4C542">
              <a:alpha val="80000"/>
            </a:srgbClr>
          </a:solidFill>
          <a:ln w="63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0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Alignment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1234440" y="2386584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unsupervised clustering patterns (K-means, SOM) in the driver genes align with the phenotypic stages of background genomic impact across patients?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274320" y="3611880"/>
            <a:ext cx="8595360" cy="1207008"/>
          </a:xfrm>
          <a:prstGeom prst="rect">
            <a:avLst/>
          </a:prstGeom>
          <a:solidFill>
            <a:srgbClr val="1C3A4A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822960" cy="1207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9959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7680960" y="3685032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F4C542">
              <a:alpha val="80000"/>
            </a:srgbClr>
          </a:solidFill>
          <a:ln w="63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0" y="3685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800"/>
          </a:p>
        </p:txBody>
      </p:sp>
      <p:sp>
        <p:nvSpPr>
          <p:cNvPr id="22" name="Text 20"/>
          <p:cNvSpPr/>
          <p:nvPr/>
        </p:nvSpPr>
        <p:spPr>
          <a:xfrm>
            <a:off x="1234440" y="3758184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supervised learning architecture — Random Forest vs. Neural Networks — provides the most robust classification of patient-specific genomic signatures?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Hypothesis: Stable biomarker genes can act as predictive indicators of broader transcriptomic instability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Pipeline Overview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572768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157276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41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Preprocess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47472" y="2029968"/>
            <a:ext cx="1426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NCI60 colon subset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normalize all genes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1847088" y="1984248"/>
            <a:ext cx="16459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841248"/>
            <a:ext cx="1572768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841248"/>
            <a:ext cx="1572768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841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2084832" y="141732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Filtering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2084832" y="2029968"/>
            <a:ext cx="1426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Z &gt; 1.0 (consistency)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|Z| &gt; 2.0 (outliers)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3584448" y="1984248"/>
            <a:ext cx="16459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841248"/>
            <a:ext cx="1572768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0" y="841248"/>
            <a:ext cx="1572768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49040" y="841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3822192" y="141732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Reduction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822192" y="2029968"/>
            <a:ext cx="1426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(linear)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(non-linear)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5321808" y="1984248"/>
            <a:ext cx="16459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0" y="841248"/>
            <a:ext cx="1572768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4A7C8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841248"/>
            <a:ext cx="1572768" cy="502920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841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5559552" y="141732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5559552" y="2029968"/>
            <a:ext cx="1426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(Ward.D2)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7059168" y="1984248"/>
            <a:ext cx="164592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23760" y="841248"/>
            <a:ext cx="1572768" cy="3200400"/>
          </a:xfrm>
          <a:prstGeom prst="rect">
            <a:avLst/>
          </a:prstGeom>
          <a:solidFill>
            <a:srgbClr val="0D1B2A"/>
          </a:solidFill>
          <a:ln w="1905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23760" y="841248"/>
            <a:ext cx="1572768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23760" y="8412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7296912" y="141732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7296912" y="2029968"/>
            <a:ext cx="14264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· GAM · Neural Net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274320" y="4224528"/>
            <a:ext cx="8595360" cy="685800"/>
          </a:xfrm>
          <a:prstGeom prst="rect">
            <a:avLst/>
          </a:prstGeom>
          <a:solidFill>
            <a:srgbClr val="1C3A4A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Significance  →  Cross-reference Olden's Influence Scores (Neural Net) with Gini Importance (Random Forest) to validate biomarker robustness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Gene Selection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06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(R)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11480" y="136245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Extract Colon Subset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40080" y="15636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colon indices from NCI60 (V42–V48)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 patient rows × 6,830 gene columns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411480" y="2112264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75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Z-Score Normalization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scale() applied column-wise: Mean=0, SD=1 per gene. Removes systematic expression bias.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411480" y="2862072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8254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Rounded Matrix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rounded to 3 decimal places for clean downstream analysis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575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Count-Based Filtering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40080" y="3813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rows count how many patients show Z &gt; 1 to 2, Z &gt; 2 to 3, Z &gt; 3 per gene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11480" y="436168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High-Consistency Filter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640080" y="45628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genes where ≥2 patients show 1 &lt; Z ≤ 2 → identifies consistent drivers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754880" y="804672"/>
            <a:ext cx="411480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8778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Markers (Driver Genes)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937760" y="1234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Z-score consistently &gt; 1.0 across multiple patients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high-consistency genes identified (e.g., X6413, X5929)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Represent stable transcriptional drivers of cancer state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as the predictive input for all downstream models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114800" cy="2011680"/>
          </a:xfrm>
          <a:prstGeom prst="rect">
            <a:avLst/>
          </a:prstGeom>
          <a:solidFill>
            <a:srgbClr val="1C3A4A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29992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Outliers (Effect Genes)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4937760" y="336499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|Z-score| &gt; 2.0 — significantly over- or under-expressed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677 genes identified across cohort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Represent the broader genomic instability landscape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Upregulated (Z &gt; 2) and downregulated (Z &lt; -2) tracked separately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Detection: Clinical Genomic Instability</a:t>
            </a:r>
            <a:endParaRPr lang="en-US" sz="2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777240"/>
            <a:ext cx="3108960" cy="4069080"/>
          </a:xfrm>
          <a:prstGeom prst="rect">
            <a:avLst/>
          </a:prstGeom>
          <a:solidFill>
            <a:srgbClr val="1C3A4A"/>
          </a:solidFill>
          <a:ln w="63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0" y="868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5943600" y="1207008"/>
            <a:ext cx="28346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0" y="132588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53328" y="13258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V47 &amp; V48: Highest Instability</a:t>
            </a:r>
            <a:endParaRPr lang="en-US" sz="950"/>
          </a:p>
        </p:txBody>
      </p:sp>
      <p:sp>
        <p:nvSpPr>
          <p:cNvPr id="11" name="Text 8"/>
          <p:cNvSpPr/>
          <p:nvPr/>
        </p:nvSpPr>
        <p:spPr>
          <a:xfrm>
            <a:off x="6053328" y="157276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~175 significant genes each — these patients show the strongest genomic heterogeneity and may represent advanced-stage disease</a:t>
            </a:r>
            <a:endParaRPr lang="en-US" sz="850"/>
          </a:p>
        </p:txBody>
      </p:sp>
      <p:sp>
        <p:nvSpPr>
          <p:cNvPr id="12" name="Shape 9"/>
          <p:cNvSpPr/>
          <p:nvPr/>
        </p:nvSpPr>
        <p:spPr>
          <a:xfrm>
            <a:off x="5943600" y="219456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53328" y="219456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V44: Lowest Instability</a:t>
            </a:r>
            <a:endParaRPr lang="en-US" sz="950"/>
          </a:p>
        </p:txBody>
      </p:sp>
      <p:sp>
        <p:nvSpPr>
          <p:cNvPr id="14" name="Text 11"/>
          <p:cNvSpPr/>
          <p:nvPr/>
        </p:nvSpPr>
        <p:spPr>
          <a:xfrm>
            <a:off x="6053328" y="244144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~35 significant genes — may represent an early or stable tumor state</a:t>
            </a:r>
            <a:endParaRPr lang="en-US" sz="850"/>
          </a:p>
        </p:txBody>
      </p:sp>
      <p:sp>
        <p:nvSpPr>
          <p:cNvPr id="15" name="Shape 12"/>
          <p:cNvSpPr/>
          <p:nvPr/>
        </p:nvSpPr>
        <p:spPr>
          <a:xfrm>
            <a:off x="5943600" y="306324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53328" y="306324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Upregulated Dominance</a:t>
            </a:r>
            <a:endParaRPr lang="en-US" sz="950"/>
          </a:p>
        </p:txBody>
      </p:sp>
      <p:sp>
        <p:nvSpPr>
          <p:cNvPr id="17" name="Text 14"/>
          <p:cNvSpPr/>
          <p:nvPr/>
        </p:nvSpPr>
        <p:spPr>
          <a:xfrm>
            <a:off x="6053328" y="331012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Upregulation (red) exceeds downregulation across most patients — consistent with oncogenic gene activation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5943600" y="393192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53328" y="393192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Pattern</a:t>
            </a:r>
            <a:endParaRPr lang="en-US" sz="950"/>
          </a:p>
        </p:txBody>
      </p:sp>
      <p:sp>
        <p:nvSpPr>
          <p:cNvPr id="20" name="Text 17"/>
          <p:cNvSpPr/>
          <p:nvPr/>
        </p:nvSpPr>
        <p:spPr>
          <a:xfrm>
            <a:off x="6053328" y="417880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between low-instability (V44, V46) and high-instability (V47, V48) groups supports patient stratification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8A475-B66A-5F74-9C09-33A4F2A1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1FE8E2-3D64-4BF5-ADC3-D4AFFB43F04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D4B175-42EC-1A43-8DEC-75FBFF641CA0}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4A0BD7-071B-6742-7508-8EF2720D1DDD}"/>
              </a:ext>
            </a:extLst>
          </p:cNvPr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00A896"/>
                </a:solidFill>
                <a:ea typeface="+mn-lt"/>
                <a:cs typeface="+mn-lt"/>
              </a:rPr>
              <a:t>Market Marker Heatmap (High-Consistency Driver Genes)</a:t>
            </a:r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A97BCC7-039C-6454-DFAF-D96ECC6D4757}"/>
              </a:ext>
            </a:extLst>
          </p:cNvPr>
          <p:cNvSpPr/>
          <p:nvPr/>
        </p:nvSpPr>
        <p:spPr>
          <a:xfrm>
            <a:off x="6083779" y="825548"/>
            <a:ext cx="2716027" cy="39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Key observations</a:t>
            </a:r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84E082A-E586-6BEC-9AFC-16CEE640D656}"/>
              </a:ext>
            </a:extLst>
          </p:cNvPr>
          <p:cNvSpPr/>
          <p:nvPr/>
        </p:nvSpPr>
        <p:spPr>
          <a:xfrm>
            <a:off x="5943600" y="1207008"/>
            <a:ext cx="28346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BB95D16-BFC8-BE63-40AB-50ACF95D3CE7}"/>
              </a:ext>
            </a:extLst>
          </p:cNvPr>
          <p:cNvSpPr/>
          <p:nvPr/>
        </p:nvSpPr>
        <p:spPr>
          <a:xfrm>
            <a:off x="5943600" y="132588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687819C-216A-ADAF-91D2-764064404240}"/>
              </a:ext>
            </a:extLst>
          </p:cNvPr>
          <p:cNvSpPr/>
          <p:nvPr/>
        </p:nvSpPr>
        <p:spPr>
          <a:xfrm>
            <a:off x="5943600" y="219456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5B82E85-8506-A939-67C6-B22D102012E3}"/>
              </a:ext>
            </a:extLst>
          </p:cNvPr>
          <p:cNvSpPr/>
          <p:nvPr/>
        </p:nvSpPr>
        <p:spPr>
          <a:xfrm>
            <a:off x="5943600" y="306324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D43EE92-FD2E-6B38-BFA8-F1DF022C6603}"/>
              </a:ext>
            </a:extLst>
          </p:cNvPr>
          <p:cNvSpPr/>
          <p:nvPr/>
        </p:nvSpPr>
        <p:spPr>
          <a:xfrm>
            <a:off x="5943600" y="393192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 descr="A red and blue squares&#10;&#10;AI-generated content may be incorrect.">
            <a:extLst>
              <a:ext uri="{FF2B5EF4-FFF2-40B4-BE49-F238E27FC236}">
                <a16:creationId xmlns:a16="http://schemas.microsoft.com/office/drawing/2014/main" id="{6EC289CA-013C-7516-FEE5-972A8C98D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0" y="711679"/>
            <a:ext cx="5762032" cy="437790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1F74C45-114E-01D2-709C-B6822C99B263}"/>
              </a:ext>
            </a:extLst>
          </p:cNvPr>
          <p:cNvSpPr txBox="1"/>
          <p:nvPr/>
        </p:nvSpPr>
        <p:spPr>
          <a:xfrm>
            <a:off x="6069975" y="1349656"/>
            <a:ext cx="251253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V47 &amp; V48 show strong upregulation across most driver genes</a:t>
            </a:r>
            <a:br>
              <a:rPr lang="en-US" sz="1200" b="1" dirty="0">
                <a:solidFill>
                  <a:srgbClr val="00B050"/>
                </a:solidFill>
                <a:ea typeface="+mn-lt"/>
                <a:cs typeface="+mn-lt"/>
              </a:rPr>
            </a:b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 → Indicates high genomic instability / late-stage profile</a:t>
            </a:r>
            <a:r>
              <a:rPr lang="en-US" sz="1200" dirty="0">
                <a:solidFill>
                  <a:srgbClr val="00B050"/>
                </a:solidFill>
                <a:ea typeface="+mn-lt"/>
                <a:cs typeface="+mn-lt"/>
              </a:rPr>
              <a:t> </a:t>
            </a:r>
            <a:endParaRPr lang="en-US" sz="1200">
              <a:solidFill>
                <a:srgbClr val="00B050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V43, V44, V45 cluster together with lower expression</a:t>
            </a:r>
            <a:br>
              <a:rPr lang="en-US" sz="1200" b="1" dirty="0">
                <a:solidFill>
                  <a:srgbClr val="00B050"/>
                </a:solidFill>
                <a:ea typeface="+mn-lt"/>
                <a:cs typeface="+mn-lt"/>
              </a:rPr>
            </a:b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 → Suggests more stable / early-stage tumor phenotype</a:t>
            </a:r>
            <a:r>
              <a:rPr lang="en-US" sz="1200" dirty="0">
                <a:solidFill>
                  <a:srgbClr val="00B050"/>
                </a:solidFill>
                <a:ea typeface="+mn-lt"/>
                <a:cs typeface="+mn-lt"/>
              </a:rPr>
              <a:t> </a:t>
            </a:r>
            <a:endParaRPr lang="en-US" sz="1200">
              <a:solidFill>
                <a:srgbClr val="00B050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V42 &amp; V46 show mixed patterns</a:t>
            </a:r>
            <a:br>
              <a:rPr lang="en-US" sz="1200" b="1" dirty="0">
                <a:solidFill>
                  <a:srgbClr val="00B050"/>
                </a:solidFill>
                <a:ea typeface="+mn-lt"/>
                <a:cs typeface="+mn-lt"/>
              </a:rPr>
            </a:br>
            <a:r>
              <a:rPr lang="en-US" sz="1200" b="1">
                <a:solidFill>
                  <a:srgbClr val="00B050"/>
                </a:solidFill>
                <a:ea typeface="+mn-lt"/>
                <a:cs typeface="+mn-lt"/>
              </a:rPr>
              <a:t> → Likely represent intermediate disease states</a:t>
            </a:r>
            <a:endParaRPr lang="en-US" sz="1200">
              <a:solidFill>
                <a:srgbClr val="00B050"/>
              </a:solidFill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254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Reduction: PCA &amp; t-SNE</a:t>
            </a:r>
            <a:endParaRPr lang="en-US" sz="2200"/>
          </a:p>
        </p:txBody>
      </p:sp>
      <p:sp>
        <p:nvSpPr>
          <p:cNvPr id="6" name="Shape 3"/>
          <p:cNvSpPr/>
          <p:nvPr/>
        </p:nvSpPr>
        <p:spPr>
          <a:xfrm>
            <a:off x="5897880" y="777240"/>
            <a:ext cx="3017520" cy="4069080"/>
          </a:xfrm>
          <a:prstGeom prst="rect">
            <a:avLst/>
          </a:prstGeom>
          <a:solidFill>
            <a:srgbClr val="0D1B2A"/>
          </a:solidFill>
          <a:ln w="63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5040" y="8778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6035040" y="1298448"/>
            <a:ext cx="2743200" cy="36576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1389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(Linear)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6035040" y="168249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global variance structure. Patients are spread along PC1 (50.9% variance) and PC2 (29.9%) for Market genes. Background genes show wider separation, with V47 as a strong outlier along PC1 (26.3%).</a:t>
            </a:r>
            <a:endParaRPr lang="en-US" sz="850"/>
          </a:p>
        </p:txBody>
      </p:sp>
      <p:sp>
        <p:nvSpPr>
          <p:cNvPr id="11" name="Shape 8"/>
          <p:cNvSpPr/>
          <p:nvPr/>
        </p:nvSpPr>
        <p:spPr>
          <a:xfrm>
            <a:off x="6035040" y="2487168"/>
            <a:ext cx="2743200" cy="36576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35040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(Non-linear)</a:t>
            </a:r>
            <a:endParaRPr lang="en-US" sz="1000"/>
          </a:p>
        </p:txBody>
      </p:sp>
      <p:sp>
        <p:nvSpPr>
          <p:cNvPr id="13" name="Text 10"/>
          <p:cNvSpPr/>
          <p:nvPr/>
        </p:nvSpPr>
        <p:spPr>
          <a:xfrm>
            <a:off x="6035040" y="287121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tighter, more biologically meaningful clusters. V42 and V46 separate clearly from the early-stage group (V43–V45). V47/V48 are consistently isolated — confirming high instability status.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6035040" y="3675888"/>
            <a:ext cx="2743200" cy="36576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35040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6035040" y="405993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provides clearer patient stratification than PCA — non-linear structure dominates colon cancer gene expression space.</a:t>
            </a:r>
            <a:endParaRPr lang="en-US" sz="850"/>
          </a:p>
        </p:txBody>
      </p:sp>
      <p:pic>
        <p:nvPicPr>
          <p:cNvPr id="17" name="صورة 16" descr="صورة تحتوي على نص, لقطة شاشة, رسم بياني, الخط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03FE7D6A-83F6-49A8-8456-00F892AA7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78" y="882463"/>
            <a:ext cx="4594583" cy="39668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Analysis (k=3)</a:t>
            </a:r>
            <a:endParaRPr lang="en-US" sz="2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48640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777240"/>
            <a:ext cx="2926080" cy="4069080"/>
          </a:xfrm>
          <a:prstGeom prst="rect">
            <a:avLst/>
          </a:prstGeom>
          <a:solidFill>
            <a:srgbClr val="1C3A4A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26480" y="8778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Interpretation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6126480" y="1298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(Blue) – V42, V46</a:t>
            </a:r>
            <a:endParaRPr lang="en-US" sz="950"/>
          </a:p>
        </p:txBody>
      </p:sp>
      <p:sp>
        <p:nvSpPr>
          <p:cNvPr id="9" name="Text 6"/>
          <p:cNvSpPr/>
          <p:nvPr/>
        </p:nvSpPr>
        <p:spPr>
          <a:xfrm>
            <a:off x="6126480" y="1554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expression profile. Appear in both Market and Background spaces consistently — possible mid-stage tumor state.</a:t>
            </a:r>
            <a:endParaRPr lang="en-US" sz="850"/>
          </a:p>
        </p:txBody>
      </p:sp>
      <p:sp>
        <p:nvSpPr>
          <p:cNvPr id="10" name="Text 7"/>
          <p:cNvSpPr/>
          <p:nvPr/>
        </p:nvSpPr>
        <p:spPr>
          <a:xfrm>
            <a:off x="6126480" y="2194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(Yellow) – V43, V44, V45</a:t>
            </a:r>
            <a:endParaRPr lang="en-US" sz="950"/>
          </a:p>
        </p:txBody>
      </p:sp>
      <p:sp>
        <p:nvSpPr>
          <p:cNvPr id="11" name="Text 8"/>
          <p:cNvSpPr/>
          <p:nvPr/>
        </p:nvSpPr>
        <p:spPr>
          <a:xfrm>
            <a:off x="6126480" y="24505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Market marker expression. Tight background clustering suggests genomic stability — early-stage signature.</a:t>
            </a:r>
            <a:endParaRPr lang="en-US" sz="850"/>
          </a:p>
        </p:txBody>
      </p:sp>
      <p:sp>
        <p:nvSpPr>
          <p:cNvPr id="12" name="Text 9"/>
          <p:cNvSpPr/>
          <p:nvPr/>
        </p:nvSpPr>
        <p:spPr>
          <a:xfrm>
            <a:off x="6126480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(Grey) – V47, V48</a:t>
            </a:r>
            <a:endParaRPr lang="en-US" sz="95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separation in background gene space — high instability, most divergent from others. Late-stage genomic signature.</a:t>
            </a:r>
            <a:endParaRPr lang="en-US" sz="850"/>
          </a:p>
        </p:txBody>
      </p:sp>
      <p:sp>
        <p:nvSpPr>
          <p:cNvPr id="14" name="Text 11"/>
          <p:cNvSpPr/>
          <p:nvPr/>
        </p:nvSpPr>
        <p:spPr>
          <a:xfrm>
            <a:off x="612648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Cross-Space Consistency</a:t>
            </a:r>
            <a:endParaRPr lang="en-US" sz="950"/>
          </a:p>
        </p:txBody>
      </p:sp>
      <p:sp>
        <p:nvSpPr>
          <p:cNvPr id="15" name="Text 12"/>
          <p:cNvSpPr/>
          <p:nvPr/>
        </p:nvSpPr>
        <p:spPr>
          <a:xfrm>
            <a:off x="6126480" y="42428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assignments are largely preserved between Market gene space and Background gene space — confirming that driver genes reflect the global genomic state.</a:t>
            </a:r>
            <a:endParaRPr lang="en-US"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Clustering: Ward's D2 Method</a:t>
            </a:r>
            <a:endParaRPr lang="en-US" sz="22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530352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777240"/>
            <a:ext cx="31089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0" y="8686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Analysis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5943600" y="1280160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53328" y="128016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V43, V44, V45</a:t>
            </a:r>
            <a:endParaRPr lang="en-US" sz="950"/>
          </a:p>
        </p:txBody>
      </p:sp>
      <p:sp>
        <p:nvSpPr>
          <p:cNvPr id="10" name="Text 7"/>
          <p:cNvSpPr/>
          <p:nvPr/>
        </p:nvSpPr>
        <p:spPr>
          <a:xfrm>
            <a:off x="6053328" y="152704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first at low height (~2.0) — most similar expression profiles. Likely early-stage or well-differentiated tumors with lower genomic chaos.</a:t>
            </a:r>
            <a:endParaRPr lang="en-US" sz="850"/>
          </a:p>
        </p:txBody>
      </p:sp>
      <p:sp>
        <p:nvSpPr>
          <p:cNvPr id="11" name="Shape 8"/>
          <p:cNvSpPr/>
          <p:nvPr/>
        </p:nvSpPr>
        <p:spPr>
          <a:xfrm>
            <a:off x="5943600" y="2157984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53328" y="215798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V47, V48</a:t>
            </a:r>
            <a:endParaRPr lang="en-US" sz="950"/>
          </a:p>
        </p:txBody>
      </p:sp>
      <p:sp>
        <p:nvSpPr>
          <p:cNvPr id="13" name="Text 10"/>
          <p:cNvSpPr/>
          <p:nvPr/>
        </p:nvSpPr>
        <p:spPr>
          <a:xfrm>
            <a:off x="6053328" y="2404872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merger — moderate distance. Strong co-instability signature consistent with advanced-stage or hypermutated phenotype.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5943600" y="3035808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53328" y="303580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V42, V46</a:t>
            </a:r>
            <a:endParaRPr lang="en-US" sz="950"/>
          </a:p>
        </p:txBody>
      </p:sp>
      <p:sp>
        <p:nvSpPr>
          <p:cNvPr id="16" name="Text 13"/>
          <p:cNvSpPr/>
          <p:nvPr/>
        </p:nvSpPr>
        <p:spPr>
          <a:xfrm>
            <a:off x="6053328" y="328269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distinct from others — merge at height ~2.2. Possible intermediate stage or unique molecular subtype.</a:t>
            </a:r>
            <a:endParaRPr lang="en-US" sz="850"/>
          </a:p>
        </p:txBody>
      </p:sp>
      <p:sp>
        <p:nvSpPr>
          <p:cNvPr id="17" name="Shape 14"/>
          <p:cNvSpPr/>
          <p:nvPr/>
        </p:nvSpPr>
        <p:spPr>
          <a:xfrm>
            <a:off x="5943600" y="3913632"/>
            <a:ext cx="36576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53328" y="391363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Ward.D2</a:t>
            </a:r>
            <a:endParaRPr lang="en-US" sz="950"/>
          </a:p>
        </p:txBody>
      </p:sp>
      <p:sp>
        <p:nvSpPr>
          <p:cNvPr id="19" name="Text 16"/>
          <p:cNvSpPr/>
          <p:nvPr/>
        </p:nvSpPr>
        <p:spPr>
          <a:xfrm>
            <a:off x="6053328" y="416052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total within-cluster variance. Euclidean distance ensures we capture overall expression profile differences, not just direction.</a:t>
            </a:r>
            <a:endParaRPr lang="en-US"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Self-Organizing Map (SOM) Analysis</a:t>
            </a:r>
            <a:endParaRPr lang="en-US" sz="2200"/>
          </a:p>
        </p:txBody>
      </p:sp>
      <p:sp>
        <p:nvSpPr>
          <p:cNvPr id="6" name="Shape 3"/>
          <p:cNvSpPr/>
          <p:nvPr/>
        </p:nvSpPr>
        <p:spPr>
          <a:xfrm>
            <a:off x="5989320" y="777240"/>
            <a:ext cx="2926080" cy="4069080"/>
          </a:xfrm>
          <a:prstGeom prst="rect">
            <a:avLst/>
          </a:prstGeom>
          <a:solidFill>
            <a:srgbClr val="1C3A4A"/>
          </a:solidFill>
          <a:ln w="635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26480" y="8778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Interpretation</a:t>
            </a:r>
            <a:endParaRPr lang="en-US" sz="1200"/>
          </a:p>
        </p:txBody>
      </p:sp>
      <p:sp>
        <p:nvSpPr>
          <p:cNvPr id="8" name="Text 5"/>
          <p:cNvSpPr/>
          <p:nvPr/>
        </p:nvSpPr>
        <p:spPr>
          <a:xfrm>
            <a:off x="6126480" y="12144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A: Convergence</a:t>
            </a:r>
            <a:endParaRPr lang="en-US" sz="950"/>
          </a:p>
        </p:txBody>
      </p:sp>
      <p:sp>
        <p:nvSpPr>
          <p:cNvPr id="9" name="Text 6"/>
          <p:cNvSpPr/>
          <p:nvPr/>
        </p:nvSpPr>
        <p:spPr>
          <a:xfrm>
            <a:off x="6126480" y="1545336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AACCDD"/>
                </a:solidFill>
                <a:latin typeface="Calibri"/>
                <a:ea typeface="Calibri"/>
                <a:cs typeface="Calibri"/>
              </a:rPr>
              <a:t>Training quantization error decreases steadily over 500 iterations — confirms the SOM learned stable codebook vectors for the 7 patients.</a:t>
            </a:r>
            <a:r>
              <a:rPr lang="en-US" sz="850">
                <a:solidFill>
                  <a:srgbClr val="AACCDD"/>
                </a:solidFill>
                <a:ea typeface="+mn-lt"/>
                <a:cs typeface="+mn-lt"/>
              </a:rPr>
              <a:t> The sharp decline in distance during the first 200 iterations indicates that the SOM is successfully learning the underlying patterns</a:t>
            </a:r>
            <a:endParaRPr lang="en-US" sz="85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850">
              <a:solidFill>
                <a:srgbClr val="AACCDD"/>
              </a:solidFill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26480" y="2194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B: Codebook Vectors</a:t>
            </a:r>
            <a:endParaRPr lang="en-US" sz="950"/>
          </a:p>
        </p:txBody>
      </p:sp>
      <p:sp>
        <p:nvSpPr>
          <p:cNvPr id="11" name="Text 8"/>
          <p:cNvSpPr/>
          <p:nvPr/>
        </p:nvSpPr>
        <p:spPr>
          <a:xfrm>
            <a:off x="6126480" y="2441448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hexagonal node's pie chart shows relative gene influence. X5929, X6413 dominate multiple nodes — identifying them as high-influence Market drivers.</a:t>
            </a:r>
            <a:endParaRPr lang="en-US" sz="850"/>
          </a:p>
        </p:txBody>
      </p:sp>
      <p:sp>
        <p:nvSpPr>
          <p:cNvPr id="12" name="Text 9"/>
          <p:cNvSpPr/>
          <p:nvPr/>
        </p:nvSpPr>
        <p:spPr>
          <a:xfrm>
            <a:off x="6126480" y="30906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C: Patient Topology</a:t>
            </a:r>
            <a:endParaRPr lang="en-US" sz="950"/>
          </a:p>
        </p:txBody>
      </p:sp>
      <p:sp>
        <p:nvSpPr>
          <p:cNvPr id="13" name="Text 10"/>
          <p:cNvSpPr/>
          <p:nvPr/>
        </p:nvSpPr>
        <p:spPr>
          <a:xfrm>
            <a:off x="6126480" y="3337560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AACCDD"/>
                </a:solidFill>
                <a:latin typeface="Calibri"/>
                <a:ea typeface="Calibri"/>
                <a:cs typeface="Calibri"/>
              </a:rPr>
              <a:t>This plot shows the final classification</a:t>
            </a:r>
            <a:endParaRPr lang="ar-SA"/>
          </a:p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/>
                <a:ea typeface="Calibri"/>
                <a:cs typeface="Calibri"/>
              </a:rPr>
              <a:t>V43/V44/V45 map to one region; V47 occupies its own isolated node; V48/V46/V45 cluster together — reflecting the same 3-group structure seen in K-means.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26480" y="3986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D: U-Matrix</a:t>
            </a:r>
            <a:endParaRPr lang="en-US" sz="950"/>
          </a:p>
        </p:txBody>
      </p:sp>
      <p:sp>
        <p:nvSpPr>
          <p:cNvPr id="15" name="Text 12"/>
          <p:cNvSpPr/>
          <p:nvPr/>
        </p:nvSpPr>
        <p:spPr>
          <a:xfrm>
            <a:off x="6126480" y="4124415"/>
            <a:ext cx="2693782" cy="71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50">
              <a:solidFill>
                <a:srgbClr val="AACCDD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850">
                <a:solidFill>
                  <a:srgbClr val="AACCDD"/>
                </a:solidFill>
                <a:latin typeface="Calibri"/>
                <a:ea typeface="Calibri"/>
                <a:cs typeface="Calibri"/>
              </a:rPr>
              <a:t>Boundary distances between nodes. Darker regions = greater separation. Clear boundary between early-stage group and V47 confirms distinct genomic phenotypes.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pic>
        <p:nvPicPr>
          <p:cNvPr id="5" name="صورة 4" descr="صورة تحتوي على نص, رسم بياني, لقطة شاشة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AC9ED41A-B32F-D00A-8156-E4090D23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68" y="773206"/>
            <a:ext cx="5462869" cy="4076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Additive Model (GAM): Nonlinear Genomic Prediction</a:t>
            </a:r>
            <a:endParaRPr lang="en-US" sz="2200"/>
          </a:p>
        </p:txBody>
      </p:sp>
      <p:sp>
        <p:nvSpPr>
          <p:cNvPr id="6" name="Shape 3"/>
          <p:cNvSpPr/>
          <p:nvPr/>
        </p:nvSpPr>
        <p:spPr>
          <a:xfrm>
            <a:off x="5553664" y="777240"/>
            <a:ext cx="3291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90824" y="776971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Analysis Details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5690824" y="1113551"/>
            <a:ext cx="36576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00552" y="1113551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&amp; Setup</a:t>
            </a:r>
            <a:endParaRPr lang="en-US" sz="950"/>
          </a:p>
        </p:txBody>
      </p:sp>
      <p:sp>
        <p:nvSpPr>
          <p:cNvPr id="10" name="Text 7"/>
          <p:cNvSpPr/>
          <p:nvPr/>
        </p:nvSpPr>
        <p:spPr>
          <a:xfrm>
            <a:off x="5800552" y="137724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Background_Avg ~ s(Market_Driver, k=3)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k=3 spline: prevents overfitting with N=7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 = mean of top 10 background genes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Predictor = first high-consistency Market gene</a:t>
            </a:r>
            <a:endParaRPr lang="en-US" sz="850"/>
          </a:p>
        </p:txBody>
      </p:sp>
      <p:sp>
        <p:nvSpPr>
          <p:cNvPr id="11" name="Shape 8"/>
          <p:cNvSpPr/>
          <p:nvPr/>
        </p:nvSpPr>
        <p:spPr>
          <a:xfrm>
            <a:off x="5690824" y="2073671"/>
            <a:ext cx="36576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00552" y="2073671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Spline Result</a:t>
            </a:r>
            <a:endParaRPr lang="en-US" sz="950"/>
          </a:p>
        </p:txBody>
      </p:sp>
      <p:sp>
        <p:nvSpPr>
          <p:cNvPr id="13" name="Text 10"/>
          <p:cNvSpPr/>
          <p:nvPr/>
        </p:nvSpPr>
        <p:spPr>
          <a:xfrm>
            <a:off x="5800552" y="2261728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Near-flat spline (blue line) with wide confidence bands — indicates a weak but non-zero relationship between the single driver gene and mean background expression.</a:t>
            </a:r>
            <a:endParaRPr lang="en-US" sz="850"/>
          </a:p>
        </p:txBody>
      </p:sp>
      <p:sp>
        <p:nvSpPr>
          <p:cNvPr id="14" name="Shape 11"/>
          <p:cNvSpPr/>
          <p:nvPr/>
        </p:nvSpPr>
        <p:spPr>
          <a:xfrm>
            <a:off x="5690824" y="3042195"/>
            <a:ext cx="36576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00552" y="3042195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Diagnostic Plots</a:t>
            </a:r>
            <a:endParaRPr lang="en-US" sz="950"/>
          </a:p>
        </p:txBody>
      </p:sp>
      <p:sp>
        <p:nvSpPr>
          <p:cNvPr id="16" name="Text 13"/>
          <p:cNvSpPr/>
          <p:nvPr/>
        </p:nvSpPr>
        <p:spPr>
          <a:xfrm>
            <a:off x="5800552" y="3289083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QQ-plot (slide 14): residuals follow theoretical quantiles well — GAM assumptions hold.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vs. fitted (slide 15): no systematic pattern.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(slide 16): residuals roughly normal.</a:t>
            </a:r>
            <a:endParaRPr lang="en-US" sz="850"/>
          </a:p>
        </p:txBody>
      </p:sp>
      <p:sp>
        <p:nvSpPr>
          <p:cNvPr id="17" name="Shape 14"/>
          <p:cNvSpPr/>
          <p:nvPr/>
        </p:nvSpPr>
        <p:spPr>
          <a:xfrm>
            <a:off x="5690824" y="4002315"/>
            <a:ext cx="36576" cy="868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00552" y="4002315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/>
          </a:p>
        </p:txBody>
      </p:sp>
      <p:sp>
        <p:nvSpPr>
          <p:cNvPr id="19" name="Text 16"/>
          <p:cNvSpPr/>
          <p:nvPr/>
        </p:nvSpPr>
        <p:spPr>
          <a:xfrm>
            <a:off x="5800552" y="4232395"/>
            <a:ext cx="2907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signal due to small sample (N=7). A single gene predictor is insufficient. The full 5-gene Market set or larger sample would likely improve explained deviance significantly.</a:t>
            </a:r>
            <a:endParaRPr lang="en-US" sz="850"/>
          </a:p>
        </p:txBody>
      </p:sp>
      <p:pic>
        <p:nvPicPr>
          <p:cNvPr id="20" name="صورة 19" descr="صورة تحتوي على نص, لقطة شاشة, الخط, خط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9401A3D-C162-867B-07C9-50B4F1AFB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" y="1366900"/>
            <a:ext cx="5378824" cy="35886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9A634-92DB-E1BF-B9DE-E82EAA802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221A97-C113-7625-0566-9E5709F8810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142840-1874-EEC1-D21C-80090FC4C488}"/>
              </a:ext>
            </a:extLst>
          </p:cNvPr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1D5E49-921C-F2F9-7050-8A8810AC90BC}"/>
              </a:ext>
            </a:extLst>
          </p:cNvPr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Modeling: Neural Network &amp; Random Forest</a:t>
            </a:r>
            <a:endParaRPr lang="en-US" sz="2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06D8A14-8E74-14E0-D307-099592CA4AB3}"/>
              </a:ext>
            </a:extLst>
          </p:cNvPr>
          <p:cNvSpPr/>
          <p:nvPr/>
        </p:nvSpPr>
        <p:spPr>
          <a:xfrm>
            <a:off x="45720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(MLP)</a:t>
            </a:r>
            <a:endParaRPr lang="en-US"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59ABDB-C35B-F8DA-13FB-E06921BC2262}"/>
              </a:ext>
            </a:extLst>
          </p:cNvPr>
          <p:cNvSpPr/>
          <p:nvPr/>
        </p:nvSpPr>
        <p:spPr>
          <a:xfrm>
            <a:off x="45720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676FC0-EBC8-2F53-0EA0-FCB03019CE69}"/>
              </a:ext>
            </a:extLst>
          </p:cNvPr>
          <p:cNvSpPr/>
          <p:nvPr/>
        </p:nvSpPr>
        <p:spPr>
          <a:xfrm>
            <a:off x="457200" y="35844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AACCD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569449-03C3-984E-4F90-F92D492AFB6B}"/>
              </a:ext>
            </a:extLst>
          </p:cNvPr>
          <p:cNvSpPr/>
          <p:nvPr/>
        </p:nvSpPr>
        <p:spPr>
          <a:xfrm>
            <a:off x="4754880" y="804672"/>
            <a:ext cx="4114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CBD4FC7-D225-7382-4602-BAC778EDF788}"/>
              </a:ext>
            </a:extLst>
          </p:cNvPr>
          <p:cNvSpPr/>
          <p:nvPr/>
        </p:nvSpPr>
        <p:spPr>
          <a:xfrm>
            <a:off x="493776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6DFD875-78B0-BD95-0B12-CC504A2B030C}"/>
              </a:ext>
            </a:extLst>
          </p:cNvPr>
          <p:cNvSpPr/>
          <p:nvPr/>
        </p:nvSpPr>
        <p:spPr>
          <a:xfrm>
            <a:off x="493776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4C542"/>
                </a:solidFill>
                <a:ea typeface="Calibri"/>
                <a:cs typeface="Calibri"/>
              </a:rPr>
              <a:t>Setup</a:t>
            </a:r>
            <a:endParaRPr lang="en-US" sz="10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F01420D-60B1-6CF6-F241-2B182408CD9B}"/>
              </a:ext>
            </a:extLst>
          </p:cNvPr>
          <p:cNvSpPr/>
          <p:nvPr/>
        </p:nvSpPr>
        <p:spPr>
          <a:xfrm>
            <a:off x="4937760" y="15727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DDCCA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3E05546-56DE-BB25-8CC3-994ECEFB786D}"/>
              </a:ext>
            </a:extLst>
          </p:cNvPr>
          <p:cNvSpPr/>
          <p:nvPr/>
        </p:nvSpPr>
        <p:spPr>
          <a:xfrm>
            <a:off x="493776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b="1" dirty="0">
              <a:solidFill>
                <a:srgbClr val="F4C542"/>
              </a:solidFill>
              <a:ea typeface="Calibri"/>
              <a:cs typeface="Calibri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E13C273-D0AE-813E-718A-1C41106DE70C}"/>
              </a:ext>
            </a:extLst>
          </p:cNvPr>
          <p:cNvSpPr/>
          <p:nvPr/>
        </p:nvSpPr>
        <p:spPr>
          <a:xfrm>
            <a:off x="4937760" y="25786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DDCCAA"/>
              </a:solidFill>
              <a:ea typeface="Calibri"/>
              <a:cs typeface="Calibri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46166A9-0B31-BCA7-2E18-CAD37092F4F5}"/>
              </a:ext>
            </a:extLst>
          </p:cNvPr>
          <p:cNvSpPr/>
          <p:nvPr/>
        </p:nvSpPr>
        <p:spPr>
          <a:xfrm>
            <a:off x="4937760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b="1" dirty="0">
              <a:solidFill>
                <a:srgbClr val="F4C542"/>
              </a:solidFill>
              <a:ea typeface="Calibri"/>
              <a:cs typeface="Calibri"/>
            </a:endParaRPr>
          </a:p>
        </p:txBody>
      </p:sp>
      <p:pic>
        <p:nvPicPr>
          <p:cNvPr id="21" name="Picture 20" descr="A graph with a bar graph&#10;&#10;AI-generated content may be incorrect.">
            <a:extLst>
              <a:ext uri="{FF2B5EF4-FFF2-40B4-BE49-F238E27FC236}">
                <a16:creationId xmlns:a16="http://schemas.microsoft.com/office/drawing/2014/main" id="{3D765D9E-AD5D-393B-1F8F-DABB00650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87" y="1703717"/>
            <a:ext cx="4264290" cy="277123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8836A4-CE80-6BD8-0E20-299DFAC89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186" y="1585104"/>
            <a:ext cx="3807450" cy="300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94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Modeling: Neural Network &amp; Random Forest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160520"/>
          </a:xfrm>
          <a:prstGeom prst="rect">
            <a:avLst/>
          </a:prstGeom>
          <a:solidFill>
            <a:srgbClr val="1C3A4A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(MLP)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× 5 hidden node structure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Input: 5 Market Marker Z-scores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Layer 1: 10 nodes (ReLU activation)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Layer 2: 5 nodes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Patient-specific genomic class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Olden's Influence Scores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importance calculated via connection weights. Identifies which Market genes contribute most to patient classification. Cross-validated against Random Forest Gini importance.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Approach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cross-validation used given N=7 constraint. Repeated training with different random seeds to assess weight stability.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4754880" y="804672"/>
            <a:ext cx="4114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937760" y="15727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built on bootstrapped samples of Market gene expression. ntree=500, mtry=√p selected by cross-validation.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493776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Importance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937760" y="25786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each Market gene decreases impurity across all trees. Genes X6413 and X5929 consistently ranked as top predictors — confirming SOM codebook findings.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Goal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937760" y="35844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RF (Gini) and MLP (Olden) agree on the same top Market markers, this constitutes a high-confidence, multi-model validated biomarker signature for colon cancer.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02920" cy="12618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🔬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868680" y="914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Filtering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868680" y="124358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high-consistency Market Markers identified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677 Background Outlier genes extracted across cohort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502920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📉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5303520" y="914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303520" y="124358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outperformed PCA — reveals non-linear patient clusters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V47/V48 consistently isolated as high-instability outliers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502920" cy="1261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🔵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868680" y="23042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(K-Means + Ward)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868680" y="2633472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patient groups consistently replicated across both gene spaces: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(V43–V45) · Mid (V42/V46) · Late/High instability (V47/V48)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709160" y="2212848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212848"/>
            <a:ext cx="502920" cy="1261872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🗺️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5303520" y="23042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Progression Landscape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303520" y="2633472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mapped to topologically distinct nodes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X5929 &amp; X6413 dominate codebook — key driver genes confirmed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74320" y="3602736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602736"/>
            <a:ext cx="502920" cy="126187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📈</a:t>
            </a:r>
            <a:endParaRPr lang="en-US" sz="1800"/>
          </a:p>
        </p:txBody>
      </p:sp>
      <p:sp>
        <p:nvSpPr>
          <p:cNvPr id="28" name="Text 26"/>
          <p:cNvSpPr/>
          <p:nvPr/>
        </p:nvSpPr>
        <p:spPr>
          <a:xfrm>
            <a:off x="868680" y="3694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Nonlinear Modeling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868680" y="402336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but present relationship between Market driver and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mean — limited by N=7 sample size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709160" y="3602736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602736"/>
            <a:ext cx="502920" cy="12618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🤖</a:t>
            </a:r>
            <a:endParaRPr lang="en-US" sz="1800"/>
          </a:p>
        </p:txBody>
      </p:sp>
      <p:sp>
        <p:nvSpPr>
          <p:cNvPr id="33" name="Text 31"/>
          <p:cNvSpPr/>
          <p:nvPr/>
        </p:nvSpPr>
        <p:spPr>
          <a:xfrm>
            <a:off x="5303520" y="3694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Agreement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303520" y="402336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Gini Importance and MLP Olden Scores converge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same top Market genes → high-confidence biomarker validation</a:t>
            </a:r>
            <a:endParaRPr lang="en-US" sz="9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874520"/>
          </a:xfrm>
          <a:prstGeom prst="rect">
            <a:avLst/>
          </a:prstGeom>
          <a:solidFill>
            <a:srgbClr val="1C3A4A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patterns are highly patient-specific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within the same cancer type (colon), the 7 patients show distinct transcriptomic profiles — underscoring the need for personalized genomic analysis over one-size-fits-all models.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206240" cy="1874520"/>
          </a:xfrm>
          <a:prstGeom prst="rect">
            <a:avLst/>
          </a:prstGeom>
          <a:solidFill>
            <a:srgbClr val="1C3A4A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9326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5532120" y="914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marker sets can reflect broader instability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AACCDD"/>
                </a:solidFill>
                <a:latin typeface="Calibri"/>
                <a:ea typeface="Calibri"/>
                <a:cs typeface="Calibri"/>
              </a:rPr>
              <a:t>The 5 Market Markers captured in 3 clustering analyses the same patient groupings as the full 677 Background genes. This validates the 'driver gene' hypothesis and supports dimensionality reduction for clinical applications. </a:t>
            </a:r>
            <a:r>
              <a:rPr lang="en-US" sz="950" dirty="0">
                <a:solidFill>
                  <a:srgbClr val="AACCDD"/>
                </a:solidFill>
                <a:ea typeface="+mn-lt"/>
                <a:cs typeface="+mn-lt"/>
              </a:rPr>
              <a:t>5 genes reproduce clustering seen in 677 genes</a:t>
            </a:r>
            <a:endParaRPr lang="en-US" sz="95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950" dirty="0">
              <a:solidFill>
                <a:srgbClr val="AACCDD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206240" cy="1874520"/>
          </a:xfrm>
          <a:prstGeom prst="rect">
            <a:avLst/>
          </a:prstGeom>
          <a:solidFill>
            <a:srgbClr val="1C3A4A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9443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1097280" y="2926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reliably uncovers biological structure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11480" y="34930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hierarchical clustering, t-SNE, and SOM all independently converge on 3 patient groups — providing strong, multi-method evidence for biologically meaningful subgroups.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206240" cy="1874520"/>
          </a:xfrm>
          <a:prstGeom prst="rect">
            <a:avLst/>
          </a:prstGeom>
          <a:solidFill>
            <a:srgbClr val="1C3A4A"/>
          </a:solidFill>
          <a:ln w="9525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9443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/>
          </a:p>
        </p:txBody>
      </p:sp>
      <p:sp>
        <p:nvSpPr>
          <p:cNvPr id="19" name="Text 17"/>
          <p:cNvSpPr/>
          <p:nvPr/>
        </p:nvSpPr>
        <p:spPr>
          <a:xfrm>
            <a:off x="5532120" y="2926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modeling captures complex gene relationships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846320" y="349300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 reveals that the relationship between driver and background genes is not linear. Future work with larger N will better capture the smoothing spline behavior.</a:t>
            </a:r>
            <a:endParaRPr lang="en-US" sz="9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Significance &amp; Clinical Impact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Observation → Prediction: A framework for Precision Oncology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274320" y="1810512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20624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Instability as a Biomarker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11480" y="226771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V47/V48 show ~175 significant genes each. High outlier count correlates with tumor heterogeneity and likely progression stage — consistent with clinical literature on colon cancer staging.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709160" y="1810512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810512"/>
            <a:ext cx="420624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938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Gene Targeting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4846320" y="226771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Markers (X5929, X6413) act as hubs in the transcriptional network. Therapeutic targeting of these genes could cascade to reduce the broader 677-gene instability landscape.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274320" y="3227832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227832"/>
            <a:ext cx="42062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3558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 Framework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11480" y="36850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demonstrating that 5 genes can predict the state of 677, we provide a blueprint for low-cost, high-confidence genomic screening — reducing the need to sequence every gene.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09160" y="3227832"/>
            <a:ext cx="420624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227832"/>
            <a:ext cx="420624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3558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Validation Strength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4846320" y="36850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A7C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SOM, RF, and MLP on the same top genes means findings are robust across methods. This reduces the risk of spurious associations common in high-dimensional biology.</a:t>
            </a:r>
            <a:endParaRPr lang="en-US" sz="9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3A4A"/>
          </a:solidFill>
          <a:ln w="12700">
            <a:solidFill>
              <a:srgbClr val="1C3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160520"/>
          </a:xfrm>
          <a:prstGeom prst="rect">
            <a:avLst/>
          </a:prstGeom>
          <a:solidFill>
            <a:srgbClr val="1C3A4A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37160" cy="137160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N (7 patients)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assumptions of many parametric tests. Makes overfitting a real risk for Neural Network and GAM models. Confidence intervals are wide.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137160" cy="137160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Dimension vs. Low Observations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21792" y="24871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6,830 genes vs. 7 patients is a severely underdetermined system. Many genes will appear predictive purely by chance (multiple testing problem).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411480" y="3099816"/>
            <a:ext cx="137160" cy="137160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Validation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621792" y="33284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are internal to the NCI60 colon subset. Without an independent validation cohort, generalizability remains unconfirmed.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11480" y="3941064"/>
            <a:ext cx="137160" cy="137160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Lines ≠ Patients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21792" y="4169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D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NCI60 uses cell lines, not primary tumor tissue. Some gene expression patterns may be artifacts of in vitro culture conditions rather than true in vivo biology.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754880" y="804672"/>
            <a:ext cx="4114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896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Directions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02352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Cohort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5102352" y="1645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pipeline to TCGA Colon Cancer dataset (hundreds of patients) to validate cluster structure and biomarker rankings in real clinical samples.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892040" y="2258568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02352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Multi-Omics Integration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102352" y="24871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transcriptomics with DNA methylation and copy-number variation data to build a richer model of genomic instability drivers.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4892040" y="3099816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02352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5102352" y="33284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patient cluster group (Early/Mid/Late) to clinical outcome data to assess whether the 3-cluster structure predicts prognosis.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4892040" y="3941064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02352" y="38953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Response Prediction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102352" y="41696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NCI60's pharmacological data to test whether Market Marker expression levels predict differential response to colon cancer drugs.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4A7C8E">
              <a:alpha val="15000"/>
            </a:srgbClr>
          </a:solidFill>
          <a:ln w="12700">
            <a:solidFill>
              <a:srgbClr val="4A7C8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7772400" cy="36576"/>
          </a:xfrm>
          <a:prstGeom prst="rect">
            <a:avLst/>
          </a:prstGeom>
          <a:solidFill>
            <a:srgbClr val="4A7C8E"/>
          </a:solidFill>
          <a:ln w="12700">
            <a:solidFill>
              <a:srgbClr val="4A7C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804672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E0EEF4"/>
                </a:solidFill>
                <a:latin typeface="Calibri"/>
                <a:ea typeface="Calibri"/>
                <a:cs typeface="Calibri"/>
              </a:rPr>
              <a:t>A small set of 5 Market Markers captures the biological structure reflected by 677 Background Outlier genes across a 7-patient colon cancer cohort. </a:t>
            </a:r>
            <a:r>
              <a:rPr lang="en-US" sz="1200">
                <a:solidFill>
                  <a:srgbClr val="E0EEF4"/>
                </a:solidFill>
                <a:ea typeface="+mn-lt"/>
                <a:cs typeface="+mn-lt"/>
              </a:rPr>
              <a:t>A small set of 5 genes captures the structure of 677-gene instability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EF4"/>
                </a:solidFill>
                <a:latin typeface="Calibri"/>
                <a:ea typeface="Calibri"/>
                <a:cs typeface="Calibri"/>
              </a:rPr>
              <a:t>Three distinct patient subgroups were robustly identified by K-means, hierarchical clustering, SOM, and t-SNE — suggesting biologically meaningful disease states</a:t>
            </a:r>
            <a:endParaRPr lang="en-US" sz="1200" dirty="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E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validation (RF + MLP agreement on X5929, X6413) provides high-confidence biomarker identification that is robust to individual model limitations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rgbClr val="E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provides a proof-of-concept pipeline for precision oncology: from high-dimensional transcriptomics to actionable, targeted biomarkers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20040" y="4160520"/>
            <a:ext cx="8412480" cy="685800"/>
          </a:xfrm>
          <a:prstGeom prst="rect">
            <a:avLst/>
          </a:prstGeom>
          <a:solidFill>
            <a:srgbClr val="1C3A4A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42793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  ·  Aavash, George, Asritha  ·  BINF702 – GMU  ·  Spring 2025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611A26-B001-7729-5772-2A9160089A2F}"/>
              </a:ext>
            </a:extLst>
          </p:cNvPr>
          <p:cNvSpPr txBox="1"/>
          <p:nvPr/>
        </p:nvSpPr>
        <p:spPr>
          <a:xfrm>
            <a:off x="398989" y="509601"/>
            <a:ext cx="778371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b="1" i="1">
                <a:latin typeface="Calibri Light"/>
                <a:ea typeface="Calibri Light"/>
                <a:cs typeface="Calibri Light"/>
              </a:rPr>
              <a:t>References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0FEBAC-7869-9761-6534-4427C493C25F}"/>
              </a:ext>
            </a:extLst>
          </p:cNvPr>
          <p:cNvSpPr txBox="1"/>
          <p:nvPr/>
        </p:nvSpPr>
        <p:spPr>
          <a:xfrm>
            <a:off x="60879" y="1280793"/>
            <a:ext cx="847153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Shoemaker, R. H. (2006). The NCI60 human </a:t>
            </a:r>
            <a:r>
              <a:rPr lang="en-US" err="1">
                <a:ea typeface="+mn-lt"/>
                <a:cs typeface="+mn-lt"/>
              </a:rPr>
              <a:t>tumour</a:t>
            </a:r>
            <a:r>
              <a:rPr lang="en-US">
                <a:ea typeface="+mn-lt"/>
                <a:cs typeface="+mn-lt"/>
              </a:rPr>
              <a:t> cell line anticancer drug screen. </a:t>
            </a:r>
            <a:r>
              <a:rPr lang="en-US" i="1">
                <a:ea typeface="+mn-lt"/>
                <a:cs typeface="+mn-lt"/>
              </a:rPr>
              <a:t>Nature Reviews Cancer, 6</a:t>
            </a:r>
            <a:r>
              <a:rPr lang="en-US">
                <a:ea typeface="+mn-lt"/>
                <a:cs typeface="+mn-lt"/>
              </a:rPr>
              <a:t>(10), 813–823.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Reinhold, W. C., Sunshine, M., Liu, H., Varma, S., Kohn, K. W., Morris, J., </a:t>
            </a:r>
            <a:r>
              <a:rPr lang="en-US" dirty="0" err="1">
                <a:ea typeface="+mn-lt"/>
                <a:cs typeface="+mn-lt"/>
              </a:rPr>
              <a:t>Doroshow</a:t>
            </a:r>
            <a:r>
              <a:rPr lang="en-US" dirty="0">
                <a:ea typeface="+mn-lt"/>
                <a:cs typeface="+mn-lt"/>
              </a:rPr>
              <a:t>, J., &amp; Pommier, Y. (2012). </a:t>
            </a:r>
            <a:r>
              <a:rPr lang="en-US" dirty="0" err="1">
                <a:ea typeface="+mn-lt"/>
                <a:cs typeface="+mn-lt"/>
              </a:rPr>
              <a:t>CellMiner</a:t>
            </a:r>
            <a:r>
              <a:rPr lang="en-US" dirty="0">
                <a:ea typeface="+mn-lt"/>
                <a:cs typeface="+mn-lt"/>
              </a:rPr>
              <a:t>: A web-based suite of genomic and pharmacologic tools to use the NCI-60 cell line set. </a:t>
            </a:r>
            <a:r>
              <a:rPr lang="en-US" i="1" dirty="0">
                <a:ea typeface="+mn-lt"/>
                <a:cs typeface="+mn-lt"/>
              </a:rPr>
              <a:t>Cancer Research, 72</a:t>
            </a:r>
            <a:r>
              <a:rPr lang="en-US" dirty="0">
                <a:ea typeface="+mn-lt"/>
                <a:cs typeface="+mn-lt"/>
              </a:rPr>
              <a:t>(14), 3499–3511.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Hastie, T., </a:t>
            </a:r>
            <a:r>
              <a:rPr lang="en-US" dirty="0" err="1">
                <a:ea typeface="+mn-lt"/>
                <a:cs typeface="+mn-lt"/>
              </a:rPr>
              <a:t>Tibshirani</a:t>
            </a:r>
            <a:r>
              <a:rPr lang="en-US" dirty="0">
                <a:ea typeface="+mn-lt"/>
                <a:cs typeface="+mn-lt"/>
              </a:rPr>
              <a:t>, R., &amp; Friedman, J. (2009). </a:t>
            </a:r>
            <a:r>
              <a:rPr lang="en-US" i="1" dirty="0">
                <a:ea typeface="+mn-lt"/>
                <a:cs typeface="+mn-lt"/>
              </a:rPr>
              <a:t>The elements of statistical learning: Data mining, inference, and prediction</a:t>
            </a:r>
            <a:r>
              <a:rPr lang="en-US" dirty="0">
                <a:ea typeface="+mn-lt"/>
                <a:cs typeface="+mn-lt"/>
              </a:rPr>
              <a:t> (2nd ed.). Springer.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Wood, S. N. (2017). </a:t>
            </a:r>
            <a:r>
              <a:rPr lang="en-US" i="1">
                <a:ea typeface="+mn-lt"/>
                <a:cs typeface="+mn-lt"/>
              </a:rPr>
              <a:t>Generalized additive models: An introduction with R</a:t>
            </a:r>
            <a:r>
              <a:rPr lang="en-US">
                <a:ea typeface="+mn-lt"/>
                <a:cs typeface="+mn-lt"/>
              </a:rPr>
              <a:t> (2nd ed.). Chapman and Hall/CRC.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891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2647</Words>
  <Application>Microsoft Office PowerPoint</Application>
  <PresentationFormat>On-screen Show (16:9)</PresentationFormat>
  <Paragraphs>297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Genomic Instability in Colon Cancer</dc:title>
  <dc:subject>PptxGenJS Presentation</dc:subject>
  <dc:creator>PptxGenJS</dc:creator>
  <cp:lastModifiedBy>Aavash Pant</cp:lastModifiedBy>
  <cp:revision>77</cp:revision>
  <dcterms:created xsi:type="dcterms:W3CDTF">2026-04-25T18:14:05Z</dcterms:created>
  <dcterms:modified xsi:type="dcterms:W3CDTF">2026-04-25T22:41:42Z</dcterms:modified>
</cp:coreProperties>
</file>